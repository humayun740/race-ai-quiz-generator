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968549"/>
            <a:ext cx="110301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4AF37"/>
                </a:solidFill>
                <a:latin typeface="Inter Medium"/>
                <a:ea typeface="Inter Medium"/>
                <a:cs typeface="Inter Medium"/>
                <a:sym typeface="Inter Medium"/>
              </a:rPr>
              <a:t>AI PROJECT</a:t>
            </a:r>
            <a:endParaRPr sz="1650">
              <a:solidFill>
                <a:srgbClr val="D4AF3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4AF37"/>
                </a:solidFill>
                <a:latin typeface="Inter Medium"/>
                <a:ea typeface="Inter Medium"/>
                <a:cs typeface="Inter Medium"/>
                <a:sym typeface="Inter Medium"/>
              </a:rPr>
              <a:t>23i-0832 Humayun Bilal &amp; 23i-0728 M.Faheem</a:t>
            </a:r>
            <a:endParaRPr sz="1650">
              <a:solidFill>
                <a:srgbClr val="D4AF3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2712094"/>
            <a:ext cx="11581447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INTELLIGENT READING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COMPREHENSION SYSTEM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81025" y="4338786"/>
            <a:ext cx="1143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662636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Data-Driven Architecture for Automated Answer Verification and Scaffolded Hint Generation utilizing the full RACE Dataset.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66329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2244625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LARGE-SCALE COMPREHENSION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2641996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system utilizes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87,866 questions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from the RACE dataset, expanded into a binary verification format.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75854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66775" y="334202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3342977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Middle and High School English exams.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61631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3617267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Expansion: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 question → 4 binary samples.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389060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3891557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Labels: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351,464 individual data points.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66775" y="416489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62025" y="4165848"/>
            <a:ext cx="48482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Context: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Ground-truth pairs of (Passage, Question, Answer).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71525" y="865584"/>
            <a:ext cx="1138142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RACE DATASET STRUCTURE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81025" y="865584"/>
            <a:ext cx="57150" cy="419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27299"/>
            <a:ext cx="3486150" cy="4488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727299"/>
            <a:ext cx="3486150" cy="4488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727299"/>
            <a:ext cx="3486150" cy="4488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2117824"/>
            <a:ext cx="27051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71550" y="4213324"/>
            <a:ext cx="284035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LENGTH DISTRIBUTION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71550" y="4584799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Analysis of word counts across articles (avg. 300) and questions (avg. 12) revealed the need for N-gram feature scaling.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743450" y="2775049"/>
            <a:ext cx="284035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CLASS IMBALANCE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743450" y="3146524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Identified a 3:1 ratio (75% negative / 25% positive labels). Crucial for implementing class-weight balancing in Model A.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515350" y="2775049"/>
            <a:ext cx="284035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LEXICAL OVERLAP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515350" y="3146524"/>
            <a:ext cx="27051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Verified that "Distractor" options share 40% lexical overlap with the text, necessitating semantic rather than word-match modeling.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1075" y="2127349"/>
            <a:ext cx="26860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43450" y="215592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15350" y="2155924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771525" y="865584"/>
            <a:ext cx="1138142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81025" y="865584"/>
            <a:ext cx="57150" cy="419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81025" y="2717750"/>
            <a:ext cx="52292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0.60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81025" y="3956000"/>
            <a:ext cx="52292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Weighted F1-Score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81750" y="2896046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NUMERICAL INTERPRETATION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381750" y="3293417"/>
            <a:ext cx="52292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Statistical analysis confirms that our model successfully identifies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54% of all correct answers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(Recall), significantly outperforming the 25% random-guess baseline.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381750" y="4259163"/>
            <a:ext cx="52292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TF-IDF variance analysis showed that Bigrams (N-gram 2) increased predictive confidence by 12.5% compared to Unigrams.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71525" y="865584"/>
            <a:ext cx="1138142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STATISTICAL SIGNIFICANCE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81025" y="865584"/>
            <a:ext cx="57150" cy="419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81025" y="3427511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75% BASELINE TRAP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81025" y="3824882"/>
            <a:ext cx="52292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 accuracy measurements were found misleading. A model predicting "Incorrect" for every sample achieves 75% accuracy but fails the verification task. Our F1-centric focus ensures genuine learning.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381750" y="3427511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SEMANTIC CORRELATION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381750" y="3824882"/>
            <a:ext cx="52292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showed high correlation between "Evidence Sentences" and correct labels. This insight led to the development of the "Weighted Query" logic used in the Hint Generation module.</a:t>
            </a:r>
            <a:endParaRPr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063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90631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771525" y="865584"/>
            <a:ext cx="1138142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INTERPRETATION OF ANALYSIS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81025" y="865584"/>
            <a:ext cx="57150" cy="419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581025" y="2939801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8656" y="4488507"/>
            <a:ext cx="3214687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17605" y="2635001"/>
            <a:ext cx="266361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1. EXPANSION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81025" y="3416051"/>
            <a:ext cx="25367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Converting RACE JSON format into binary CSV pairs.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3348614" y="2635001"/>
            <a:ext cx="266361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2. LEMMATIZATION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3412033" y="3416051"/>
            <a:ext cx="25367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Reducing word forms (e.g. 'walked' to 'walk') using NLTK.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179622" y="2635001"/>
            <a:ext cx="266361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3. VECTORIZATION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243042" y="3416051"/>
            <a:ext cx="25367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TF-IDF Sparse Matrix creation with 30,000 features.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010631" y="2635001"/>
            <a:ext cx="266361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4. PARTITIONING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074050" y="3416051"/>
            <a:ext cx="25367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Stratified 80-10-10 split for training &amp; validation.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71525" y="865584"/>
            <a:ext cx="1138142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PREPROCESSING PIPELINE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81025" y="865584"/>
            <a:ext cx="57150" cy="419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1773212" y="3209329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4604221" y="3209329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435229" y="3209329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10266238" y="3209329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32136"/>
            <a:ext cx="3486150" cy="327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32136"/>
            <a:ext cx="3486150" cy="327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32136"/>
            <a:ext cx="3486150" cy="327838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971550" y="3379886"/>
            <a:ext cx="284035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LINEAR SVM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71550" y="3751361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Selected for high-dimensional efficiency. Ideal for sparse TF-IDF matrices where n_samples &gt; n_features.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4743450" y="3379886"/>
            <a:ext cx="284035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743450" y="3751361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Utilized with the SAGA solver to provide multi-threaded probability estimates for answer verification.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515350" y="3379886"/>
            <a:ext cx="28403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INFERENCE OPTIMIZATION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515350" y="3979961"/>
            <a:ext cx="27051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Prioritized "White Box" ML to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chieve inference in sub-second times on normal hardware.</a:t>
            </a:r>
            <a:endParaRPr dirty="0"/>
          </a:p>
        </p:txBody>
      </p:sp>
      <p:pic>
        <p:nvPicPr>
          <p:cNvPr id="188" name="Google Shape;18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2760761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3450" y="2760761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5350" y="276076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771525" y="865584"/>
            <a:ext cx="1138142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SELECTION PROCESS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81025" y="865584"/>
            <a:ext cx="57150" cy="419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638813" y="723711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TRAINING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448313" y="723711"/>
            <a:ext cx="57300" cy="419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43550" y="1447331"/>
            <a:ext cx="115815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FULL-SCALE OPTIMIZATION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443550" y="1844702"/>
            <a:ext cx="11030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Training conducted on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351,464 rows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using the SAGA multi-threaded optimizer. Total training duration: ~7 minutes on Ryzen 5600X.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443550" y="2261867"/>
            <a:ext cx="110301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Implemented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L2 Regularization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(C=0.5) to prevent overfitting on the large vocabulary space, ensuring generalization across unseen articles.</a:t>
            </a:r>
            <a:endParaRPr/>
          </a:p>
        </p:txBody>
      </p:sp>
      <p:pic>
        <p:nvPicPr>
          <p:cNvPr id="203" name="Google Shape;2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4725" y="2975088"/>
            <a:ext cx="4962525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991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/>
          <p:nvPr/>
        </p:nvSpPr>
        <p:spPr>
          <a:xfrm>
            <a:off x="4085183" y="2935039"/>
            <a:ext cx="3253829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7339012" y="2935039"/>
            <a:ext cx="427196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81025" y="3614142"/>
            <a:ext cx="350415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085183" y="3614142"/>
            <a:ext cx="325382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7339012" y="3614142"/>
            <a:ext cx="42719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81025" y="4278957"/>
            <a:ext cx="350415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4085183" y="4278957"/>
            <a:ext cx="325382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7339012" y="4278957"/>
            <a:ext cx="42719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81025" y="4943772"/>
            <a:ext cx="350415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085183" y="4943772"/>
            <a:ext cx="325382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7339012" y="4943772"/>
            <a:ext cx="42719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81025" y="5608587"/>
            <a:ext cx="350415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085183" y="5608587"/>
            <a:ext cx="325382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7339012" y="5608587"/>
            <a:ext cx="42719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771525" y="865584"/>
            <a:ext cx="1138142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FINAL PERFORMANCE METRICS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81025" y="865584"/>
            <a:ext cx="57150" cy="419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379" y="2189654"/>
            <a:ext cx="11003251" cy="34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65684"/>
            <a:ext cx="11029950" cy="461129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581025" y="4405610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comparison shows that while overall accuracy decreased,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Predictive Utility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increased from 0% to 54% recall for correct answers.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771525" y="865584"/>
            <a:ext cx="11381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 INTERPRETATION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81025" y="865584"/>
            <a:ext cx="57300" cy="419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Widescreen</PresentationFormat>
  <Paragraphs>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Arial</vt:lpstr>
      <vt:lpstr>Montserrat</vt:lpstr>
      <vt:lpstr>Inter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Humayun Bilal</cp:lastModifiedBy>
  <cp:revision>1</cp:revision>
  <dcterms:modified xsi:type="dcterms:W3CDTF">2026-05-10T07:25:17Z</dcterms:modified>
</cp:coreProperties>
</file>